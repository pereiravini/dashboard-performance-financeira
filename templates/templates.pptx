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6"/>
  </p:handoutMasterIdLst>
  <p:sldIdLst>
    <p:sldId id="259" r:id="rId2"/>
    <p:sldId id="256" r:id="rId3"/>
    <p:sldId id="257" r:id="rId4"/>
    <p:sldId id="258" r:id="rId5"/>
  </p:sldIdLst>
  <p:sldSz cx="12192000" cy="6858000"/>
  <p:notesSz cx="9144000" cy="6858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4748B"/>
    <a:srgbClr val="1E293B"/>
    <a:srgbClr val="FFFFFF"/>
    <a:srgbClr val="F4F6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2184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1C0F1C9A-4078-0891-785E-4442221AC3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F41044A-5371-744F-5FF1-2C8A26C1F12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F535FC-0814-47A5-BD24-89624B85CD71}" type="datetimeFigureOut">
              <a:rPr lang="pt-BR" smtClean="0"/>
              <a:t>09/10/2026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60AD85E-8511-FD9D-E68F-D1FC9835B1F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1096206-7394-953A-3D91-C96904603E3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61F87C-B1F5-4036-8A8C-9C0B6ABA18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93708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0F5ACC-9C4C-1114-6F1C-F8DBDF94F2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FBFB25A-6AD3-6128-D8A9-7F4D70DF06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90789FB-7CAD-F72D-FF56-2BBEB4EBF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AD649-21C7-48E4-A671-543150127474}" type="datetimeFigureOut">
              <a:rPr lang="pt-BR" smtClean="0"/>
              <a:t>09/10/2026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888836-865F-6EF0-1FB9-70E224C86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0C594DE-4549-43D7-4094-884C5DDAA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4E2F5-7A03-4700-8F1F-5B5D0AB16A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5624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F18914-05CD-3781-8933-2C1F9BEB1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9DDCC01-870A-351A-5318-CB33E0F9C5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2B89DD8-9EAC-3941-C795-27B69114E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AD649-21C7-48E4-A671-543150127474}" type="datetimeFigureOut">
              <a:rPr lang="pt-BR" smtClean="0"/>
              <a:t>09/10/2026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E9AB911-225D-F9D1-364F-34E311FDE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E59DBE6-5895-843A-92D4-58A3B0094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4E2F5-7A03-4700-8F1F-5B5D0AB16A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197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0248A-6B6C-E660-9C4D-0AE1657DF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3EB030D-86FF-BC3A-19B4-FEB49A2A87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C1BA660-2785-9A4F-61BE-7BB040367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AD649-21C7-48E4-A671-543150127474}" type="datetimeFigureOut">
              <a:rPr lang="pt-BR" smtClean="0"/>
              <a:t>09/10/2026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EED601D-F61E-0845-2462-885BBD574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97B4A34-37ED-27A8-81AD-0C8B240C0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4E2F5-7A03-4700-8F1F-5B5D0AB16A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6696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4843B2-F5CC-FCF9-EB5B-779A36173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1958EA-F062-2EE1-74AE-6E23659822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2795034-BCBC-6197-8E0F-9983654606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7795C52-FBFD-CC8C-1AFF-BC7C0371B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AD649-21C7-48E4-A671-543150127474}" type="datetimeFigureOut">
              <a:rPr lang="pt-BR" smtClean="0"/>
              <a:t>09/10/2026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938A737-0ED3-F959-674F-8852E130E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FDB3C03-4616-CB68-E7EE-78DE534DD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4E2F5-7A03-4700-8F1F-5B5D0AB16A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1381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0F1E76-47C4-EC34-670B-B166636E5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D9A4EFD-7745-423B-A913-2062FDD85F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EA04368-97E2-A9D5-F01E-DE28C8B61D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8EBBB21-3FAD-D4BC-35C3-E796210A14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B3674E5-9C3F-EFCD-D3F6-13C72E63AA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DA5E9D5-52C1-D85A-671F-054D7E0B3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AD649-21C7-48E4-A671-543150127474}" type="datetimeFigureOut">
              <a:rPr lang="pt-BR" smtClean="0"/>
              <a:t>09/10/2026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5985421-68E2-6B0B-F3D3-A710B7A8C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F40162C-7434-FF56-33B8-4DA419B98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4E2F5-7A03-4700-8F1F-5B5D0AB16A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0788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EA7C61-C87A-B916-8353-ED36AA4F4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8B298BE-FD5D-7B06-2473-2A162F7C2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AD649-21C7-48E4-A671-543150127474}" type="datetimeFigureOut">
              <a:rPr lang="pt-BR" smtClean="0"/>
              <a:t>09/10/2026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9BA4F3B-555D-F00A-2EE6-A9A774D19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EA7ADF4-EF7F-F106-E8D9-A52B4A24F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4E2F5-7A03-4700-8F1F-5B5D0AB16A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192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C51A325-6846-2666-9744-1B13E776E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AD649-21C7-48E4-A671-543150127474}" type="datetimeFigureOut">
              <a:rPr lang="pt-BR" smtClean="0"/>
              <a:t>09/10/2026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97C0474-23B6-586F-9ED6-8897858B1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F37F5F9-C740-A6DF-BB76-29B059753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4E2F5-7A03-4700-8F1F-5B5D0AB16A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2575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971E0F-C4F8-2BF6-B97E-2F8FCD744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4A9036-17BB-9429-DA42-277BC04BC4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4806BE1-8F4F-408F-8FE5-C30AD273BA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0D3E83F-D40F-C600-290F-6A3A1A8F6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AD649-21C7-48E4-A671-543150127474}" type="datetimeFigureOut">
              <a:rPr lang="pt-BR" smtClean="0"/>
              <a:t>09/10/2026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284F367-0356-3A59-4121-977C0E75E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125FBFA-A605-0732-DDB8-00E61C0B8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4E2F5-7A03-4700-8F1F-5B5D0AB16A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4908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CFAA20-3187-80F1-E6B4-EE254A966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5001DA5-9D2D-055E-6230-2C0A169D805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6A75C17-3015-D6DC-A4DB-D8E77C3900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9DF90F3-5384-D24C-6A77-3B1154D36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AD649-21C7-48E4-A671-543150127474}" type="datetimeFigureOut">
              <a:rPr lang="pt-BR" smtClean="0"/>
              <a:t>09/10/2026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8ACDF9A-52F4-1733-713B-8332CD46A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FA4DA07-442F-26D9-6763-6D52D23F9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4E2F5-7A03-4700-8F1F-5B5D0AB16A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3880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6D8A88-AA3A-1806-E2EE-146ADDFE9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9239511-B255-E002-AEA4-3787F28D6A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568C70-1AB3-9529-DECE-1CC9A48EB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AD649-21C7-48E4-A671-543150127474}" type="datetimeFigureOut">
              <a:rPr lang="pt-BR" smtClean="0"/>
              <a:t>09/10/2026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06265D2-E22B-CBAB-DD27-2AE6E8274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E75CB21-7867-FCAF-52CA-5616724CA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4E2F5-7A03-4700-8F1F-5B5D0AB16A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3666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6FA08D1-BFD1-8496-8B9C-06B08E354C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7F6BDCF-ADB8-C836-2C38-053AAE13D8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5C84862-E0BB-3FFF-CAFE-638A4A9C8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AD649-21C7-48E4-A671-543150127474}" type="datetimeFigureOut">
              <a:rPr lang="pt-BR" smtClean="0"/>
              <a:t>09/10/2026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FFDCEE1-CB91-BF27-7317-C9FFA4705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B6FE828-E687-8695-464C-A89213D20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4E2F5-7A03-4700-8F1F-5B5D0AB16A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1419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8D41487-361E-DB2C-8957-16F19B1D6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6EAFD78-C3E0-7E20-152A-2CDFEDEB28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E7707F2-5E1C-F6BC-02FE-7C0C4A36C9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EAD649-21C7-48E4-A671-543150127474}" type="datetimeFigureOut">
              <a:rPr lang="pt-BR" smtClean="0"/>
              <a:t>09/10/2026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1A54F8B-4C86-30E1-CDAB-44BC17E1BF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8C9EBB1-FA25-7F6E-AD7E-329EAC2B59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94E2F5-7A03-4700-8F1F-5B5D0AB16A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3950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438E7F7C-DE09-FD06-2169-A7C8C28D451B}"/>
              </a:ext>
            </a:extLst>
          </p:cNvPr>
          <p:cNvSpPr txBox="1"/>
          <p:nvPr/>
        </p:nvSpPr>
        <p:spPr>
          <a:xfrm>
            <a:off x="511280" y="1140544"/>
            <a:ext cx="5820694" cy="10772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rgbClr val="1E293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Relatório de Performance Financeira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7C89B05-ECDB-B159-AEF5-CF0D41B45581}"/>
              </a:ext>
            </a:extLst>
          </p:cNvPr>
          <p:cNvSpPr txBox="1"/>
          <p:nvPr/>
        </p:nvSpPr>
        <p:spPr>
          <a:xfrm>
            <a:off x="511280" y="2217762"/>
            <a:ext cx="4571997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64748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Análise de DRE, Orçado x Realizado e Fluxo Operacional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744C96A-6188-7C8A-DDD0-43649E4ACBF7}"/>
              </a:ext>
            </a:extLst>
          </p:cNvPr>
          <p:cNvSpPr txBox="1"/>
          <p:nvPr/>
        </p:nvSpPr>
        <p:spPr>
          <a:xfrm>
            <a:off x="511279" y="5018609"/>
            <a:ext cx="4571997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rgbClr val="1E293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Desenvolvido por: Vinicius Pereira</a:t>
            </a:r>
            <a:br>
              <a:rPr lang="pt-BR" sz="1400" b="1" dirty="0">
                <a:solidFill>
                  <a:srgbClr val="1E293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pt-BR" sz="1400" dirty="0">
                <a:solidFill>
                  <a:srgbClr val="64748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Projeto de Portfólio</a:t>
            </a:r>
            <a:endParaRPr lang="pt-BR" sz="1400" b="1" dirty="0">
              <a:solidFill>
                <a:srgbClr val="64748B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2585CBA6-FC0D-9B62-ACF4-4655C11504D7}"/>
              </a:ext>
            </a:extLst>
          </p:cNvPr>
          <p:cNvSpPr/>
          <p:nvPr/>
        </p:nvSpPr>
        <p:spPr>
          <a:xfrm>
            <a:off x="8544234" y="1316170"/>
            <a:ext cx="2448232" cy="120936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54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solidFill>
                  <a:srgbClr val="1E293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Visão Geral Executiva</a:t>
            </a:r>
            <a:br>
              <a:rPr lang="pt-BR" dirty="0">
                <a:solidFill>
                  <a:srgbClr val="1E293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pt-BR" sz="1100" i="1" dirty="0">
                <a:solidFill>
                  <a:srgbClr val="1E293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KPIs Globais e Evolução</a:t>
            </a:r>
            <a:endParaRPr lang="pt-BR" i="1" dirty="0">
              <a:solidFill>
                <a:srgbClr val="1E293B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7E8B2919-204B-B064-0F3E-CF7BF156D413}"/>
              </a:ext>
            </a:extLst>
          </p:cNvPr>
          <p:cNvSpPr/>
          <p:nvPr/>
        </p:nvSpPr>
        <p:spPr>
          <a:xfrm>
            <a:off x="8544234" y="2824315"/>
            <a:ext cx="2448232" cy="120936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54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solidFill>
                  <a:srgbClr val="1E293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Orçado X Realizado</a:t>
            </a:r>
            <a:br>
              <a:rPr lang="pt-BR" sz="1600" b="1" dirty="0">
                <a:solidFill>
                  <a:srgbClr val="1E293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pt-BR" sz="1100" i="1" dirty="0">
                <a:solidFill>
                  <a:srgbClr val="1E293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Acompanhamento e Desvios de DRE</a:t>
            </a:r>
            <a:endParaRPr lang="pt-BR" sz="1600" b="1" i="1" dirty="0">
              <a:solidFill>
                <a:srgbClr val="1E293B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95358161-5CB3-D58E-CC7E-063619A497B4}"/>
              </a:ext>
            </a:extLst>
          </p:cNvPr>
          <p:cNvSpPr/>
          <p:nvPr/>
        </p:nvSpPr>
        <p:spPr>
          <a:xfrm>
            <a:off x="8544234" y="4332460"/>
            <a:ext cx="2448232" cy="120936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54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solidFill>
                  <a:srgbClr val="1E293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Performance Operacional &amp; Caixa</a:t>
            </a:r>
            <a:br>
              <a:rPr lang="pt-BR" sz="1600" b="1" dirty="0">
                <a:solidFill>
                  <a:srgbClr val="1E293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pt-BR" sz="1100" i="1" dirty="0">
                <a:solidFill>
                  <a:srgbClr val="1E293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Custos, Pagamentos e Inadimplência</a:t>
            </a:r>
            <a:endParaRPr lang="pt-BR" sz="1600" b="1" dirty="0">
              <a:solidFill>
                <a:srgbClr val="1E293B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84634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896F5AA0-23BE-E7D3-99B0-60DEB52674F9}"/>
              </a:ext>
            </a:extLst>
          </p:cNvPr>
          <p:cNvSpPr/>
          <p:nvPr/>
        </p:nvSpPr>
        <p:spPr>
          <a:xfrm>
            <a:off x="6352868" y="1150376"/>
            <a:ext cx="2448232" cy="120936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54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31DF01D8-4836-D639-FDAA-0BF4ED8EDA55}"/>
              </a:ext>
            </a:extLst>
          </p:cNvPr>
          <p:cNvSpPr/>
          <p:nvPr/>
        </p:nvSpPr>
        <p:spPr>
          <a:xfrm>
            <a:off x="9212826" y="1150377"/>
            <a:ext cx="2448232" cy="120936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54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1E6C2EC4-8091-0C77-B46B-60FFEDA63795}"/>
              </a:ext>
            </a:extLst>
          </p:cNvPr>
          <p:cNvSpPr/>
          <p:nvPr/>
        </p:nvSpPr>
        <p:spPr>
          <a:xfrm>
            <a:off x="530942" y="2871019"/>
            <a:ext cx="5410200" cy="3780505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>
            <a:noFill/>
          </a:ln>
          <a:effectLst>
            <a:outerShdw blurRad="25400" sx="101000" sy="10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34E163CF-EA63-A38E-7114-1D762B5ADD85}"/>
              </a:ext>
            </a:extLst>
          </p:cNvPr>
          <p:cNvSpPr/>
          <p:nvPr/>
        </p:nvSpPr>
        <p:spPr>
          <a:xfrm>
            <a:off x="6250860" y="2871019"/>
            <a:ext cx="5410200" cy="3780505"/>
          </a:xfrm>
          <a:prstGeom prst="roundRect">
            <a:avLst>
              <a:gd name="adj" fmla="val 4964"/>
            </a:avLst>
          </a:prstGeom>
          <a:solidFill>
            <a:srgbClr val="FFFFFF"/>
          </a:solidFill>
          <a:ln>
            <a:noFill/>
          </a:ln>
          <a:effectLst>
            <a:outerShdw blurRad="25400" sx="101000" sy="10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C19740E5-8301-98A3-83CD-429A6D54C36B}"/>
              </a:ext>
            </a:extLst>
          </p:cNvPr>
          <p:cNvSpPr txBox="1"/>
          <p:nvPr/>
        </p:nvSpPr>
        <p:spPr>
          <a:xfrm>
            <a:off x="462118" y="108156"/>
            <a:ext cx="3077497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rgbClr val="1E293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Visão Geral Executiva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95EE32E-9789-DEA9-EF5F-2906D771D0D1}"/>
              </a:ext>
            </a:extLst>
          </p:cNvPr>
          <p:cNvSpPr txBox="1"/>
          <p:nvPr/>
        </p:nvSpPr>
        <p:spPr>
          <a:xfrm>
            <a:off x="471950" y="399711"/>
            <a:ext cx="3077497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1E293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Performance Financeira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EC3E5AA3-5F43-0FC4-AA37-E2C94EA81DB5}"/>
              </a:ext>
            </a:extLst>
          </p:cNvPr>
          <p:cNvSpPr/>
          <p:nvPr/>
        </p:nvSpPr>
        <p:spPr>
          <a:xfrm>
            <a:off x="577647" y="1150378"/>
            <a:ext cx="2448232" cy="120936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54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36B26AE7-0EFF-D7B4-2E1F-F701363B3A3B}"/>
              </a:ext>
            </a:extLst>
          </p:cNvPr>
          <p:cNvSpPr/>
          <p:nvPr/>
        </p:nvSpPr>
        <p:spPr>
          <a:xfrm>
            <a:off x="3539615" y="1150376"/>
            <a:ext cx="2448232" cy="120936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54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D3A3D52E-F490-F119-A416-C62D8E5324D6}"/>
              </a:ext>
            </a:extLst>
          </p:cNvPr>
          <p:cNvSpPr txBox="1"/>
          <p:nvPr/>
        </p:nvSpPr>
        <p:spPr>
          <a:xfrm>
            <a:off x="907028" y="873377"/>
            <a:ext cx="1789469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rgbClr val="1E293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Receita Total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EBB83FA1-8B92-2C26-5E40-293909FF44D0}"/>
              </a:ext>
            </a:extLst>
          </p:cNvPr>
          <p:cNvSpPr txBox="1"/>
          <p:nvPr/>
        </p:nvSpPr>
        <p:spPr>
          <a:xfrm>
            <a:off x="3868997" y="873376"/>
            <a:ext cx="1789469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rgbClr val="1E293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Custos &amp; Despesas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3C00635D-0B72-A954-DBF2-5C85B7C427DA}"/>
              </a:ext>
            </a:extLst>
          </p:cNvPr>
          <p:cNvSpPr txBox="1"/>
          <p:nvPr/>
        </p:nvSpPr>
        <p:spPr>
          <a:xfrm>
            <a:off x="6682249" y="873376"/>
            <a:ext cx="1789469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rgbClr val="1E293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Lucro/Margem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ECFF435A-440D-B82C-CB38-FD4D31C00CD6}"/>
              </a:ext>
            </a:extLst>
          </p:cNvPr>
          <p:cNvSpPr txBox="1"/>
          <p:nvPr/>
        </p:nvSpPr>
        <p:spPr>
          <a:xfrm>
            <a:off x="9542207" y="854561"/>
            <a:ext cx="1789469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rgbClr val="1E293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% Lucro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74E399CE-2E7F-EEBB-C962-31A885B73FA7}"/>
              </a:ext>
            </a:extLst>
          </p:cNvPr>
          <p:cNvSpPr txBox="1"/>
          <p:nvPr/>
        </p:nvSpPr>
        <p:spPr>
          <a:xfrm>
            <a:off x="1928966" y="2594020"/>
            <a:ext cx="2614151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rgbClr val="1E293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Evolução Mensal: Receitas X Custos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BCE37545-C714-5B67-1DB1-F0F4912D8E34}"/>
              </a:ext>
            </a:extLst>
          </p:cNvPr>
          <p:cNvSpPr txBox="1"/>
          <p:nvPr/>
        </p:nvSpPr>
        <p:spPr>
          <a:xfrm>
            <a:off x="7411988" y="2594019"/>
            <a:ext cx="3079031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rgbClr val="1E293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Distribuição de Custos por Departamento</a:t>
            </a:r>
          </a:p>
        </p:txBody>
      </p:sp>
    </p:spTree>
    <p:extLst>
      <p:ext uri="{BB962C8B-B14F-4D97-AF65-F5344CB8AC3E}">
        <p14:creationId xmlns:p14="http://schemas.microsoft.com/office/powerpoint/2010/main" val="3702434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CBD2C14C-3BFB-EA77-0EB5-0E01CF24A940}"/>
              </a:ext>
            </a:extLst>
          </p:cNvPr>
          <p:cNvSpPr txBox="1"/>
          <p:nvPr/>
        </p:nvSpPr>
        <p:spPr>
          <a:xfrm>
            <a:off x="462118" y="108156"/>
            <a:ext cx="3077497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rgbClr val="1E293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Orçado X Realizado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7F66BD1-898E-2579-3F5A-D4D36CD33E41}"/>
              </a:ext>
            </a:extLst>
          </p:cNvPr>
          <p:cNvSpPr txBox="1"/>
          <p:nvPr/>
        </p:nvSpPr>
        <p:spPr>
          <a:xfrm>
            <a:off x="471950" y="399711"/>
            <a:ext cx="3637934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1E293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Acompanhamento Orçamentário e Desvios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395CAFCB-9579-1053-3C29-32F45A6B1583}"/>
              </a:ext>
            </a:extLst>
          </p:cNvPr>
          <p:cNvSpPr/>
          <p:nvPr/>
        </p:nvSpPr>
        <p:spPr>
          <a:xfrm>
            <a:off x="462118" y="1150375"/>
            <a:ext cx="3637933" cy="120936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54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121FB793-FA73-7AA2-2A3F-CB963F138C81}"/>
              </a:ext>
            </a:extLst>
          </p:cNvPr>
          <p:cNvSpPr/>
          <p:nvPr/>
        </p:nvSpPr>
        <p:spPr>
          <a:xfrm>
            <a:off x="4277033" y="1150375"/>
            <a:ext cx="3637933" cy="120936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54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DB16D03F-4344-CF00-7634-30F428605683}"/>
              </a:ext>
            </a:extLst>
          </p:cNvPr>
          <p:cNvSpPr/>
          <p:nvPr/>
        </p:nvSpPr>
        <p:spPr>
          <a:xfrm>
            <a:off x="8091948" y="1150375"/>
            <a:ext cx="3637933" cy="120936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54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8BEDF952-3DCB-4F89-300A-D7BB530B230C}"/>
              </a:ext>
            </a:extLst>
          </p:cNvPr>
          <p:cNvSpPr/>
          <p:nvPr/>
        </p:nvSpPr>
        <p:spPr>
          <a:xfrm>
            <a:off x="471951" y="2959948"/>
            <a:ext cx="3637933" cy="3655658"/>
          </a:xfrm>
          <a:prstGeom prst="roundRect">
            <a:avLst>
              <a:gd name="adj" fmla="val 3694"/>
            </a:avLst>
          </a:prstGeom>
          <a:solidFill>
            <a:srgbClr val="FFFFFF"/>
          </a:solidFill>
          <a:ln>
            <a:noFill/>
          </a:ln>
          <a:effectLst>
            <a:outerShdw blurRad="25400" sx="101000" sy="10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F976A46B-F7C3-1971-D179-A1B033E0057D}"/>
              </a:ext>
            </a:extLst>
          </p:cNvPr>
          <p:cNvSpPr/>
          <p:nvPr/>
        </p:nvSpPr>
        <p:spPr>
          <a:xfrm>
            <a:off x="4277033" y="2959948"/>
            <a:ext cx="7452849" cy="3655658"/>
          </a:xfrm>
          <a:prstGeom prst="roundRect">
            <a:avLst>
              <a:gd name="adj" fmla="val 3694"/>
            </a:avLst>
          </a:prstGeom>
          <a:solidFill>
            <a:srgbClr val="FFFFFF"/>
          </a:solidFill>
          <a:ln>
            <a:noFill/>
          </a:ln>
          <a:effectLst>
            <a:outerShdw blurRad="25400" sx="101000" sy="10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17FF9F33-5F55-0600-0355-FCAD4A157123}"/>
              </a:ext>
            </a:extLst>
          </p:cNvPr>
          <p:cNvSpPr txBox="1"/>
          <p:nvPr/>
        </p:nvSpPr>
        <p:spPr>
          <a:xfrm>
            <a:off x="1386349" y="873376"/>
            <a:ext cx="1789469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rgbClr val="1E293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Total Orçado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00B494AB-C8B5-6F8A-87BF-95C4A6CA7883}"/>
              </a:ext>
            </a:extLst>
          </p:cNvPr>
          <p:cNvSpPr txBox="1"/>
          <p:nvPr/>
        </p:nvSpPr>
        <p:spPr>
          <a:xfrm>
            <a:off x="5201264" y="873375"/>
            <a:ext cx="1789469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rgbClr val="1E293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Total Realizado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FC32F873-2C03-1C77-65F7-24D148B19DA1}"/>
              </a:ext>
            </a:extLst>
          </p:cNvPr>
          <p:cNvSpPr txBox="1"/>
          <p:nvPr/>
        </p:nvSpPr>
        <p:spPr>
          <a:xfrm>
            <a:off x="9016179" y="873375"/>
            <a:ext cx="1789469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rgbClr val="1E293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% Orçado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A5BE3851-CE82-D2DA-CD4F-E4BC75EB2BE1}"/>
              </a:ext>
            </a:extLst>
          </p:cNvPr>
          <p:cNvSpPr txBox="1"/>
          <p:nvPr/>
        </p:nvSpPr>
        <p:spPr>
          <a:xfrm>
            <a:off x="6464709" y="2682949"/>
            <a:ext cx="3077495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rgbClr val="1E293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Detalhamento da DRE: Orçado X Realizado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3B0FED8A-DEF5-D511-0257-B0653E454C69}"/>
              </a:ext>
            </a:extLst>
          </p:cNvPr>
          <p:cNvSpPr txBox="1"/>
          <p:nvPr/>
        </p:nvSpPr>
        <p:spPr>
          <a:xfrm>
            <a:off x="752169" y="2664131"/>
            <a:ext cx="3077495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rgbClr val="1E293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Maiores Desvios por Centro de Custo</a:t>
            </a:r>
          </a:p>
        </p:txBody>
      </p:sp>
    </p:spTree>
    <p:extLst>
      <p:ext uri="{BB962C8B-B14F-4D97-AF65-F5344CB8AC3E}">
        <p14:creationId xmlns:p14="http://schemas.microsoft.com/office/powerpoint/2010/main" val="635462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0A6E8-AA71-31B4-81A4-31C7D6EA9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E4D07D35-C07A-BBFA-AE54-84A8769BC320}"/>
              </a:ext>
            </a:extLst>
          </p:cNvPr>
          <p:cNvSpPr txBox="1"/>
          <p:nvPr/>
        </p:nvSpPr>
        <p:spPr>
          <a:xfrm>
            <a:off x="462118" y="108156"/>
            <a:ext cx="4355688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rgbClr val="1E293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Performance Operacional &amp; Caixa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81F8790-532B-DC2F-2351-DA0C3F63D684}"/>
              </a:ext>
            </a:extLst>
          </p:cNvPr>
          <p:cNvSpPr txBox="1"/>
          <p:nvPr/>
        </p:nvSpPr>
        <p:spPr>
          <a:xfrm>
            <a:off x="471950" y="399711"/>
            <a:ext cx="3637934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1E293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Análise de Custos Operacionais e Fluxo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8684EA8E-0957-228E-AC6E-4660E8B7C25A}"/>
              </a:ext>
            </a:extLst>
          </p:cNvPr>
          <p:cNvSpPr/>
          <p:nvPr/>
        </p:nvSpPr>
        <p:spPr>
          <a:xfrm>
            <a:off x="462118" y="1150375"/>
            <a:ext cx="3637933" cy="120936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54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4806F34-5403-14A0-D74C-B486FB95515C}"/>
              </a:ext>
            </a:extLst>
          </p:cNvPr>
          <p:cNvSpPr/>
          <p:nvPr/>
        </p:nvSpPr>
        <p:spPr>
          <a:xfrm>
            <a:off x="4277033" y="1150375"/>
            <a:ext cx="3637933" cy="120936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54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F2A7FB67-132E-8991-E838-4BC64E27BC3B}"/>
              </a:ext>
            </a:extLst>
          </p:cNvPr>
          <p:cNvSpPr/>
          <p:nvPr/>
        </p:nvSpPr>
        <p:spPr>
          <a:xfrm>
            <a:off x="8091948" y="1150375"/>
            <a:ext cx="3637933" cy="120936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54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B5B85034-0ED4-D4B5-0438-4581E24CA995}"/>
              </a:ext>
            </a:extLst>
          </p:cNvPr>
          <p:cNvSpPr/>
          <p:nvPr/>
        </p:nvSpPr>
        <p:spPr>
          <a:xfrm>
            <a:off x="471952" y="2959948"/>
            <a:ext cx="2349909" cy="3655658"/>
          </a:xfrm>
          <a:prstGeom prst="roundRect">
            <a:avLst>
              <a:gd name="adj" fmla="val 3694"/>
            </a:avLst>
          </a:prstGeom>
          <a:solidFill>
            <a:srgbClr val="FFFFFF"/>
          </a:solidFill>
          <a:ln>
            <a:noFill/>
          </a:ln>
          <a:effectLst>
            <a:outerShdw blurRad="254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EE06E4B4-F8E0-F20A-61D0-63AFE662E5DD}"/>
              </a:ext>
            </a:extLst>
          </p:cNvPr>
          <p:cNvSpPr/>
          <p:nvPr/>
        </p:nvSpPr>
        <p:spPr>
          <a:xfrm>
            <a:off x="3043085" y="2959948"/>
            <a:ext cx="2349909" cy="3655658"/>
          </a:xfrm>
          <a:prstGeom prst="roundRect">
            <a:avLst>
              <a:gd name="adj" fmla="val 3694"/>
            </a:avLst>
          </a:prstGeom>
          <a:solidFill>
            <a:srgbClr val="FFFFFF"/>
          </a:solidFill>
          <a:ln>
            <a:noFill/>
          </a:ln>
          <a:effectLst>
            <a:outerShdw blurRad="254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975EBD81-2890-C35E-A140-34933C7032EE}"/>
              </a:ext>
            </a:extLst>
          </p:cNvPr>
          <p:cNvSpPr txBox="1"/>
          <p:nvPr/>
        </p:nvSpPr>
        <p:spPr>
          <a:xfrm>
            <a:off x="1022555" y="873375"/>
            <a:ext cx="2536722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rgbClr val="1E293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Total Custos Operacionais (OPEX)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335AD0CB-75F1-E61E-9B91-BB35293C989D}"/>
              </a:ext>
            </a:extLst>
          </p:cNvPr>
          <p:cNvSpPr txBox="1"/>
          <p:nvPr/>
        </p:nvSpPr>
        <p:spPr>
          <a:xfrm>
            <a:off x="5112773" y="873375"/>
            <a:ext cx="1966451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rgbClr val="1E293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% Custos Fixos X Variáveis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09703308-C0A4-FEAA-D749-686F487D2490}"/>
              </a:ext>
            </a:extLst>
          </p:cNvPr>
          <p:cNvSpPr txBox="1"/>
          <p:nvPr/>
        </p:nvSpPr>
        <p:spPr>
          <a:xfrm>
            <a:off x="8979306" y="873375"/>
            <a:ext cx="1863216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rgbClr val="1E293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% Taxa de Inadimplência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F660F507-AEBB-BBBC-519F-216BFB718357}"/>
              </a:ext>
            </a:extLst>
          </p:cNvPr>
          <p:cNvSpPr txBox="1"/>
          <p:nvPr/>
        </p:nvSpPr>
        <p:spPr>
          <a:xfrm>
            <a:off x="2679291" y="2673539"/>
            <a:ext cx="3077495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rgbClr val="1E293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Entradas por Forma de Pagamento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44B7D35B-58D8-3012-3947-0FF700D5CB93}"/>
              </a:ext>
            </a:extLst>
          </p:cNvPr>
          <p:cNvSpPr txBox="1"/>
          <p:nvPr/>
        </p:nvSpPr>
        <p:spPr>
          <a:xfrm>
            <a:off x="117992" y="2664130"/>
            <a:ext cx="3077495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rgbClr val="1E293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Composição das Despesas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BF37F676-370C-5906-580B-4B58907D4EA4}"/>
              </a:ext>
            </a:extLst>
          </p:cNvPr>
          <p:cNvSpPr/>
          <p:nvPr/>
        </p:nvSpPr>
        <p:spPr>
          <a:xfrm>
            <a:off x="5614218" y="2959948"/>
            <a:ext cx="6115663" cy="3655658"/>
          </a:xfrm>
          <a:prstGeom prst="roundRect">
            <a:avLst>
              <a:gd name="adj" fmla="val 3694"/>
            </a:avLst>
          </a:prstGeom>
          <a:solidFill>
            <a:srgbClr val="FFFFFF"/>
          </a:solidFill>
          <a:ln>
            <a:noFill/>
          </a:ln>
          <a:effectLst>
            <a:outerShdw blurRad="25400" sx="101000" sy="10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83F4EC3-C91E-E116-908B-5DE07E009307}"/>
              </a:ext>
            </a:extLst>
          </p:cNvPr>
          <p:cNvSpPr txBox="1"/>
          <p:nvPr/>
        </p:nvSpPr>
        <p:spPr>
          <a:xfrm>
            <a:off x="7059561" y="2664130"/>
            <a:ext cx="3077495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rgbClr val="1E293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Acompanhamento de Inadimplência</a:t>
            </a:r>
          </a:p>
        </p:txBody>
      </p:sp>
    </p:spTree>
    <p:extLst>
      <p:ext uri="{BB962C8B-B14F-4D97-AF65-F5344CB8AC3E}">
        <p14:creationId xmlns:p14="http://schemas.microsoft.com/office/powerpoint/2010/main" val="57106672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138</Words>
  <Application>Microsoft Office PowerPoint</Application>
  <PresentationFormat>Widescreen</PresentationFormat>
  <Paragraphs>29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Segoe UI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VINICIUS PEREIRA DA SILVA</dc:creator>
  <cp:lastModifiedBy>VINICIUS PEREIRA DA SILVA</cp:lastModifiedBy>
  <cp:revision>10</cp:revision>
  <dcterms:created xsi:type="dcterms:W3CDTF">2026-10-02T22:14:33Z</dcterms:created>
  <dcterms:modified xsi:type="dcterms:W3CDTF">2026-10-09T22:15:56Z</dcterms:modified>
</cp:coreProperties>
</file>